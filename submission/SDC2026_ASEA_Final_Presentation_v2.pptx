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663A117-049B-1EA2-9293-A279BFD7117C}">
          <p14:sldIdLst>
            <p14:sldId id="256"/>
          </p14:sldIdLst>
        </p14:section>
        <p14:section name="Problem" id="{513F71D8-3B30-73B6-1308-EB3C52C0177D}">
          <p14:sldIdLst>
            <p14:sldId id="257"/>
          </p14:sldIdLst>
        </p14:section>
        <p14:section name="Survey" id="{11CC2E71-2DD5-AD0F-857A-9824DF2D1FBF}">
          <p14:sldIdLst>
            <p14:sldId id="258"/>
            <p14:sldId id="259"/>
            <p14:sldId id="260"/>
          </p14:sldIdLst>
        </p14:section>
        <p14:section name="Solution" id="{D92EAC4E-900C-1CF3-1EF4-215CEB7CD2E9}">
          <p14:sldIdLst>
            <p14:sldId id="261"/>
            <p14:sldId id="262"/>
          </p14:sldIdLst>
        </p14:section>
        <p14:section name="Motivation" id="{33117B46-5FDB-F43F-7778-A8A034FA3642}">
          <p14:sldIdLst>
            <p14:sldId id="263"/>
          </p14:sldIdLst>
        </p14:section>
        <p14:section name="Pitch" id="{A2C50E14-4A41-7473-8E17-ECBD767C712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ik Kurmashev" userId="c7959910debf2ed5" providerId="LiveId" clId="{B8A7409D-9F61-4609-A575-FF022C63BE5B}"/>
    <pc:docChg chg="modSld">
      <pc:chgData name="Serik Kurmashev" userId="c7959910debf2ed5" providerId="LiveId" clId="{B8A7409D-9F61-4609-A575-FF022C63BE5B}" dt="2026-10-31T07:50:03.765" v="228" actId="20577"/>
      <pc:docMkLst>
        <pc:docMk/>
      </pc:docMkLst>
      <pc:sldChg chg="modSp mod">
        <pc:chgData name="Serik Kurmashev" userId="c7959910debf2ed5" providerId="LiveId" clId="{B8A7409D-9F61-4609-A575-FF022C63BE5B}" dt="2026-10-31T07:50:03.765" v="228" actId="20577"/>
        <pc:sldMkLst>
          <pc:docMk/>
          <pc:sldMk cId="0" sldId="260"/>
        </pc:sldMkLst>
        <pc:spChg chg="mod">
          <ac:chgData name="Serik Kurmashev" userId="c7959910debf2ed5" providerId="LiveId" clId="{B8A7409D-9F61-4609-A575-FF022C63BE5B}" dt="2026-10-31T07:46:30.677" v="11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erik Kurmashev" userId="c7959910debf2ed5" providerId="LiveId" clId="{B8A7409D-9F61-4609-A575-FF022C63BE5B}" dt="2026-10-31T07:50:03.765" v="228" actId="20577"/>
          <ac:spMkLst>
            <pc:docMk/>
            <pc:sldMk cId="0" sldId="260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769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0:00–0:20. We are team ASEA, and this is Path.AI.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0:20–1:20. AI is not a future risk; it is cutting jobs now. In 2025 US employers blamed AI for 54,836 job cuts. In Malaysia, employers expect data-entry jobs to shrink by 28% by 2030, and clerks, cashiers and designers are among the fastest-declining jobs. People in these jobs need to know where to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1:20–1:50. Before building, we checked the problem with a survey: 55 answers. 60% university students, a quarter already working, plus school leavers and job seekers.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1:50–2:30. Half found choosing a profession hard; half struggled to get a first internship or job, mostly because every posting asks for experience; and half do not know which skills AI-era jobs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2:30–3:10. 93% would pay at least 5,000 tenge, about 11 dollars, for at least one of the two tools, and more people value learning with internships. Path.AI does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3:10–3:50. Path.AI reads your skills, shows how AI is changing demand, ranks 43 future jobs for you, builds an ordered free learning plan and matches real job postings.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3:50–4:30. Three things make it trustworthy: live dated data, a score anyone can take apart, and free real courses. The AI explains, it never invents numbers, jobs or courses.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4:30–5:10. A plan alone is not enough; people quit. So we added a goal with a daily streak, 100 medals and points that pay for real gifts. Rewards are a demo for now; partners could sponsor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5:10–10:00. Switch to the browser and run the live demo along these six steps, then take questions. More than one teammate should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5394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Path.AI · Team ASEA · SDC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 dark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pathai.lol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athai.lo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lmatikooo/Competition_Repo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h.AI mar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566928" cy="597164"/>
          </a:xfrm>
          <a:prstGeom prst="rect">
            <a:avLst/>
          </a:prstGeom>
        </p:spPr>
      </p:pic>
      <p:pic>
        <p:nvPicPr>
          <p:cNvPr id="3" name="Path.AI wordmark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841248"/>
            <a:ext cx="2011680" cy="469392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Find your path in the AI era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3840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CFE6"/>
                </a:solidFill>
              </a:rPr>
              <a:t>An explainable AI career navigator: from your skills today to a future-proof job, with a free learning plan.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983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u="sng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pathai.lol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623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FE6"/>
                </a:solidFill>
              </a:rPr>
              <a:t>Team ASEA · Xiamen University Malaysia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CFE6"/>
                </a:solidFill>
              </a:rPr>
              <a:t>SDC Hackathon 2026 · Domain 1: The Aiversecity Future-Ready Workforce</a:t>
            </a:r>
            <a:endParaRPr lang="en-US" sz="1300" dirty="0"/>
          </a:p>
        </p:txBody>
      </p:sp>
      <p:sp>
        <p:nvSpPr>
          <p:cNvPr id="8" name="Path.AI home page frame"/>
          <p:cNvSpPr/>
          <p:nvPr/>
        </p:nvSpPr>
        <p:spPr>
          <a:xfrm>
            <a:off x="6144768" y="1389888"/>
            <a:ext cx="5541264" cy="3483864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Path.AI home page" descr="Path.AI home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41732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AI is already costing people their jobs</a:t>
            </a:r>
            <a:endParaRPr lang="en-US" sz="3200" dirty="0"/>
          </a:p>
        </p:txBody>
      </p:sp>
      <p:sp>
        <p:nvSpPr>
          <p:cNvPr id="3" name="stat 1"/>
          <p:cNvSpPr/>
          <p:nvPr/>
        </p:nvSpPr>
        <p:spPr>
          <a:xfrm>
            <a:off x="548640" y="132588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54,836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US job cuts in 2025 were blamed directly on AI, out of 1,206,374 announced cuts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Challenger, Gray &amp; Christmas, 2025 year-end report</a:t>
            </a:r>
            <a:endParaRPr lang="en-US" sz="1100" dirty="0"/>
          </a:p>
        </p:txBody>
      </p:sp>
      <p:sp>
        <p:nvSpPr>
          <p:cNvPr id="7" name="stat 2"/>
          <p:cNvSpPr/>
          <p:nvPr/>
        </p:nvSpPr>
        <p:spPr>
          <a:xfrm>
            <a:off x="4297680" y="132588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7200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71,825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job cuts attributed to AI since 2023, when this reason was first tracked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Challenger, Gray &amp; Christmas</a:t>
            </a:r>
            <a:endParaRPr lang="en-US" sz="1100" dirty="0"/>
          </a:p>
        </p:txBody>
      </p:sp>
      <p:sp>
        <p:nvSpPr>
          <p:cNvPr id="11" name="stat 3"/>
          <p:cNvSpPr/>
          <p:nvPr/>
        </p:nvSpPr>
        <p:spPr>
          <a:xfrm>
            <a:off x="8046720" y="132588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32104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−28%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jobs for data entry clerks in Malaysia by 2030, as surveyed employers expect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WEF Future of Jobs Report 2025, Malaysia profile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Jobs disappearing fastest, 2025–2030 (WEF)</a:t>
            </a:r>
            <a:endParaRPr lang="en-US" sz="2000" dirty="0"/>
          </a:p>
        </p:txBody>
      </p:sp>
      <p:sp>
        <p:nvSpPr>
          <p:cNvPr id="16" name="declining job 1"/>
          <p:cNvSpPr/>
          <p:nvPr/>
        </p:nvSpPr>
        <p:spPr>
          <a:xfrm>
            <a:off x="548640" y="457200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4572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Data entry clerks</a:t>
            </a:r>
            <a:endParaRPr lang="en-US" sz="1400" dirty="0"/>
          </a:p>
        </p:txBody>
      </p:sp>
      <p:sp>
        <p:nvSpPr>
          <p:cNvPr id="18" name="declining job 2"/>
          <p:cNvSpPr/>
          <p:nvPr/>
        </p:nvSpPr>
        <p:spPr>
          <a:xfrm>
            <a:off x="3337560" y="457200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474720" y="4572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Accounting and payroll clerks</a:t>
            </a:r>
            <a:endParaRPr lang="en-US" sz="1400" dirty="0"/>
          </a:p>
        </p:txBody>
      </p:sp>
      <p:sp>
        <p:nvSpPr>
          <p:cNvPr id="20" name="declining job 3"/>
          <p:cNvSpPr/>
          <p:nvPr/>
        </p:nvSpPr>
        <p:spPr>
          <a:xfrm>
            <a:off x="6126480" y="457200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263640" y="4572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Cashiers and ticket clerks</a:t>
            </a:r>
            <a:endParaRPr lang="en-US" sz="1400" dirty="0"/>
          </a:p>
        </p:txBody>
      </p:sp>
      <p:sp>
        <p:nvSpPr>
          <p:cNvPr id="22" name="declining job 4"/>
          <p:cNvSpPr/>
          <p:nvPr/>
        </p:nvSpPr>
        <p:spPr>
          <a:xfrm>
            <a:off x="8915400" y="457200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052560" y="4572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Administrative assistants</a:t>
            </a:r>
            <a:endParaRPr lang="en-US" sz="1400" dirty="0"/>
          </a:p>
        </p:txBody>
      </p:sp>
      <p:sp>
        <p:nvSpPr>
          <p:cNvPr id="24" name="declining job 5"/>
          <p:cNvSpPr/>
          <p:nvPr/>
        </p:nvSpPr>
        <p:spPr>
          <a:xfrm>
            <a:off x="548640" y="512064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5800" y="5120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Bank tellers</a:t>
            </a:r>
            <a:endParaRPr lang="en-US" sz="1400" dirty="0"/>
          </a:p>
        </p:txBody>
      </p:sp>
      <p:sp>
        <p:nvSpPr>
          <p:cNvPr id="26" name="declining job 6"/>
          <p:cNvSpPr/>
          <p:nvPr/>
        </p:nvSpPr>
        <p:spPr>
          <a:xfrm>
            <a:off x="3337560" y="512064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474720" y="5120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Graphic designers</a:t>
            </a:r>
            <a:endParaRPr lang="en-US" sz="1400" dirty="0"/>
          </a:p>
        </p:txBody>
      </p:sp>
      <p:sp>
        <p:nvSpPr>
          <p:cNvPr id="28" name="declining job 7"/>
          <p:cNvSpPr/>
          <p:nvPr/>
        </p:nvSpPr>
        <p:spPr>
          <a:xfrm>
            <a:off x="6126480" y="512064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263640" y="5120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Telemarketers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915400" y="51206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In Malaysia 56% of professionals use AI at work, but only 26% were trained (Hays 2025).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We tested the problem: 55 people answered our survey</a:t>
            </a:r>
            <a:endParaRPr lang="en-US" sz="3200" dirty="0"/>
          </a:p>
        </p:txBody>
      </p:sp>
      <p:sp>
        <p:nvSpPr>
          <p:cNvPr id="3" name="Survey chart: What stage are you at now? frame"/>
          <p:cNvSpPr/>
          <p:nvPr/>
        </p:nvSpPr>
        <p:spPr>
          <a:xfrm>
            <a:off x="521208" y="1344168"/>
            <a:ext cx="6638544" cy="2763774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Survey chart: What stage are you at now?" descr="Survey chart: What stage are you at now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583680" cy="27089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519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Google Form, 10 questions, 22–25 October 2026. Chart labels are in Russian; translation on the right.</a:t>
            </a:r>
            <a:endParaRPr lang="en-US" sz="1200" dirty="0"/>
          </a:p>
        </p:txBody>
      </p:sp>
      <p:sp>
        <p:nvSpPr>
          <p:cNvPr id="6" name="segment 1"/>
          <p:cNvSpPr/>
          <p:nvPr/>
        </p:nvSpPr>
        <p:spPr>
          <a:xfrm>
            <a:off x="7498080" y="1371600"/>
            <a:ext cx="411480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gment 1 colour"/>
          <p:cNvSpPr/>
          <p:nvPr/>
        </p:nvSpPr>
        <p:spPr>
          <a:xfrm>
            <a:off x="7680960" y="1655064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092440" y="148132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60%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14813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University students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33 people</a:t>
            </a:r>
            <a:endParaRPr lang="en-US" sz="1400" dirty="0"/>
          </a:p>
        </p:txBody>
      </p:sp>
      <p:sp>
        <p:nvSpPr>
          <p:cNvPr id="10" name="segment 2"/>
          <p:cNvSpPr/>
          <p:nvPr/>
        </p:nvSpPr>
        <p:spPr>
          <a:xfrm>
            <a:off x="7498080" y="2359152"/>
            <a:ext cx="411480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egment 2 colour"/>
          <p:cNvSpPr/>
          <p:nvPr/>
        </p:nvSpPr>
        <p:spPr>
          <a:xfrm>
            <a:off x="7680960" y="2642616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092440" y="24688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25.5%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4688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Working after university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14 people</a:t>
            </a:r>
            <a:endParaRPr lang="en-US" sz="1400" dirty="0"/>
          </a:p>
        </p:txBody>
      </p:sp>
      <p:sp>
        <p:nvSpPr>
          <p:cNvPr id="14" name="segment 3"/>
          <p:cNvSpPr/>
          <p:nvPr/>
        </p:nvSpPr>
        <p:spPr>
          <a:xfrm>
            <a:off x="7498080" y="3346704"/>
            <a:ext cx="411480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gment 3 colour"/>
          <p:cNvSpPr/>
          <p:nvPr/>
        </p:nvSpPr>
        <p:spPr>
          <a:xfrm>
            <a:off x="7680960" y="36301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092440" y="34564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9.1%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34564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Finishing school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5 people</a:t>
            </a:r>
            <a:endParaRPr lang="en-US" sz="1400" dirty="0"/>
          </a:p>
        </p:txBody>
      </p:sp>
      <p:sp>
        <p:nvSpPr>
          <p:cNvPr id="18" name="segment 4"/>
          <p:cNvSpPr/>
          <p:nvPr/>
        </p:nvSpPr>
        <p:spPr>
          <a:xfrm>
            <a:off x="7498080" y="4334256"/>
            <a:ext cx="411480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egment 4 colour"/>
          <p:cNvSpPr/>
          <p:nvPr/>
        </p:nvSpPr>
        <p:spPr>
          <a:xfrm>
            <a:off x="7680960" y="4617720"/>
            <a:ext cx="274320" cy="274320"/>
          </a:xfrm>
          <a:prstGeom prst="ellipse">
            <a:avLst/>
          </a:prstGeom>
          <a:solidFill>
            <a:srgbClr val="F29E0C"/>
          </a:solidFill>
          <a:ln w="12700">
            <a:solidFill>
              <a:srgbClr val="F29E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092440" y="444398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5.5%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444398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Graduates looking for 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3 people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Students, school leavers and young professionals: exactly the people choosing a career in the AI era.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For about half of them, every career decision is hard</a:t>
            </a:r>
            <a:endParaRPr lang="en-US" sz="3200" dirty="0"/>
          </a:p>
        </p:txBody>
      </p:sp>
      <p:sp>
        <p:nvSpPr>
          <p:cNvPr id="3" name="Survey chart: found choosing a profession hard frame"/>
          <p:cNvSpPr/>
          <p:nvPr/>
        </p:nvSpPr>
        <p:spPr>
          <a:xfrm>
            <a:off x="521208" y="1252728"/>
            <a:ext cx="3346704" cy="1669923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Survey chart: found choosing a profession hard" descr="Survey chart: found choosing a profession h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291840" cy="16150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06908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53%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069080" y="20574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found choosing a profession hard</a:t>
            </a:r>
            <a:endParaRPr lang="en-US" sz="1400" dirty="0"/>
          </a:p>
        </p:txBody>
      </p:sp>
      <p:sp>
        <p:nvSpPr>
          <p:cNvPr id="7" name="Survey chart: found choosing a university hard frame"/>
          <p:cNvSpPr/>
          <p:nvPr/>
        </p:nvSpPr>
        <p:spPr>
          <a:xfrm>
            <a:off x="6144768" y="1252728"/>
            <a:ext cx="3346704" cy="1680210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Survey chart: found choosing a university hard" descr="Survey chart: found choosing a university h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80160"/>
            <a:ext cx="3291840" cy="16253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9264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36%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9692640" y="20574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found choosing a university hard</a:t>
            </a:r>
            <a:endParaRPr lang="en-US" sz="1400" dirty="0"/>
          </a:p>
        </p:txBody>
      </p:sp>
      <p:sp>
        <p:nvSpPr>
          <p:cNvPr id="11" name="Survey chart: found getting an internship or job hard frame"/>
          <p:cNvSpPr/>
          <p:nvPr/>
        </p:nvSpPr>
        <p:spPr>
          <a:xfrm>
            <a:off x="521208" y="3630168"/>
            <a:ext cx="3346704" cy="1683639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Survey chart: found getting an internship or job hard" descr="Survey chart: found getting an internship or job h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7600"/>
            <a:ext cx="3291840" cy="16287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69080" y="3749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51%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4069080" y="4434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found getting an internship or job hard</a:t>
            </a:r>
            <a:endParaRPr lang="en-US" sz="1400" dirty="0"/>
          </a:p>
        </p:txBody>
      </p:sp>
      <p:sp>
        <p:nvSpPr>
          <p:cNvPr id="15" name="Survey chart: rate their knowledge of AI-era job skills 3 or lower frame"/>
          <p:cNvSpPr/>
          <p:nvPr/>
        </p:nvSpPr>
        <p:spPr>
          <a:xfrm>
            <a:off x="6144768" y="3630168"/>
            <a:ext cx="3346704" cy="1680210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Survey chart: rate their knowledge of AI-era job skills 3 or lower" descr="Survey chart: rate their knowledge of AI-era job skills 3 or low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657600"/>
            <a:ext cx="3291840" cy="162534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692640" y="3749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51%</a:t>
            </a:r>
            <a:endParaRPr lang="en-US" sz="3600" dirty="0"/>
          </a:p>
        </p:txBody>
      </p:sp>
      <p:sp>
        <p:nvSpPr>
          <p:cNvPr id="18" name="Text 12"/>
          <p:cNvSpPr txBox="1"/>
          <p:nvPr/>
        </p:nvSpPr>
        <p:spPr>
          <a:xfrm>
            <a:off x="9692640" y="4434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rate their knowledge of AI-era job skills 3 or lower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“Hard” = a rating of 1, 2 or 3, where 1 = very hard and 5 = easy (knowledge question: 1 = don't know, 5 = know well). n = 55. Charts from our Google Form, labels in Russian.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And they are ready to pay for help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tool that finds the best profession for your skills, given how AI changes the market</a:t>
            </a:r>
            <a:endParaRPr lang="en-US" sz="1600" dirty="0"/>
          </a:p>
        </p:txBody>
      </p:sp>
      <p:sp>
        <p:nvSpPr>
          <p:cNvPr id="4" name="Survey chart: A tool that finds the best profession for your skills, given how AI changes the market frame"/>
          <p:cNvSpPr/>
          <p:nvPr/>
        </p:nvSpPr>
        <p:spPr>
          <a:xfrm>
            <a:off x="521208" y="1892808"/>
            <a:ext cx="3438144" cy="1760601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Survey chart: A tool that finds the best profession for your skills, given how AI changes the market" descr="Survey chart: A tool that finds the best profession for your skills, given how AI changes the mar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3383280" cy="17057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6052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20%  </a:t>
            </a:r>
            <a:r>
              <a:rPr lang="en-US" sz="1400" dirty="0">
                <a:solidFill>
                  <a:schemeClr val="tx1"/>
                </a:solidFill>
              </a:rPr>
              <a:t>under 5,000 KZT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6052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50.9%  </a:t>
            </a:r>
            <a:r>
              <a:rPr lang="en-US" sz="1400" dirty="0">
                <a:solidFill>
                  <a:schemeClr val="tx1"/>
                </a:solidFill>
              </a:rPr>
              <a:t>5,000–10,000 KZT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29.1%  </a:t>
            </a:r>
            <a:r>
              <a:rPr lang="en-US" sz="1400" dirty="0">
                <a:solidFill>
                  <a:schemeClr val="tx1"/>
                </a:solidFill>
              </a:rPr>
              <a:t>over 10,000 KZT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234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tool that teaches important AI skills and finds internships and jobs</a:t>
            </a:r>
            <a:endParaRPr lang="en-US" sz="1600" dirty="0"/>
          </a:p>
        </p:txBody>
      </p:sp>
      <p:sp>
        <p:nvSpPr>
          <p:cNvPr id="10" name="Survey chart: A tool that teaches important AI skills and finds internships and jobs frame"/>
          <p:cNvSpPr/>
          <p:nvPr/>
        </p:nvSpPr>
        <p:spPr>
          <a:xfrm>
            <a:off x="6144768" y="1892808"/>
            <a:ext cx="3438144" cy="1661922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Survey chart: A tool that teaches important AI skills and finds internships and jobs" descr="Survey chart: A tool that teaches important AI skills and finds internships and job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20240"/>
            <a:ext cx="3383280" cy="16070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78408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12.7%  </a:t>
            </a:r>
            <a:r>
              <a:rPr lang="en-US" sz="1400" dirty="0">
                <a:solidFill>
                  <a:schemeClr val="tx1"/>
                </a:solidFill>
              </a:rPr>
              <a:t>under 5,000 KZT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50.9%  </a:t>
            </a:r>
            <a:r>
              <a:rPr lang="en-US" sz="1400" dirty="0">
                <a:solidFill>
                  <a:schemeClr val="tx1"/>
                </a:solidFill>
              </a:rPr>
              <a:t>5,000–10,000 KZT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78408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36.4%  </a:t>
            </a:r>
            <a:r>
              <a:rPr lang="en-US" sz="1400" dirty="0">
                <a:solidFill>
                  <a:schemeClr val="tx1"/>
                </a:solidFill>
              </a:rPr>
              <a:t>over 10,000 KZT</a:t>
            </a:r>
            <a:endParaRPr lang="en-US" sz="1400" dirty="0"/>
          </a:p>
        </p:txBody>
      </p:sp>
      <p:sp>
        <p:nvSpPr>
          <p:cNvPr id="15" name="demand conclusion"/>
          <p:cNvSpPr/>
          <p:nvPr/>
        </p:nvSpPr>
        <p:spPr>
          <a:xfrm>
            <a:off x="548640" y="3886200"/>
            <a:ext cx="1106424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914400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6000" b="1" dirty="0">
                <a:solidFill>
                  <a:schemeClr val="accent2"/>
                </a:solidFill>
              </a:rPr>
              <a:t>83.5</a:t>
            </a:r>
            <a:r>
              <a:rPr lang="en-US" sz="6000" b="1" dirty="0">
                <a:solidFill>
                  <a:schemeClr val="accent2"/>
                </a:solidFill>
              </a:rPr>
              <a:t>%</a:t>
            </a:r>
            <a:endParaRPr lang="en-US" sz="6000" dirty="0"/>
          </a:p>
        </p:txBody>
      </p:sp>
      <p:sp>
        <p:nvSpPr>
          <p:cNvPr id="17" name="Text 13"/>
          <p:cNvSpPr txBox="1"/>
          <p:nvPr/>
        </p:nvSpPr>
        <p:spPr>
          <a:xfrm>
            <a:off x="3017520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would pay at least 5,000 KZT (about $11) for at least one of the two tools. There is real demand for a platform that does both: Path.AI.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301752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C9CFE6"/>
                </a:solidFill>
              </a:rPr>
              <a:t>50.9</a:t>
            </a:r>
            <a:r>
              <a:rPr lang="en-US" sz="1400" dirty="0">
                <a:solidFill>
                  <a:srgbClr val="C9CFE6"/>
                </a:solidFill>
              </a:rPr>
              <a:t>% people are ready to pay about $11-$20, while 32.75% approved to pay at least $20 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n = 55, mostly young people in Kazakhstan; 447.94 KZT per US$ (National Bank of Kazakhstan, 23 Oct 2026). Stated willingness, to be confirmed with pre-orders.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Path.AI: from your skills to a future job in minutes</a:t>
            </a:r>
            <a:endParaRPr lang="en-US" sz="3200" dirty="0"/>
          </a:p>
        </p:txBody>
      </p:sp>
      <p:sp>
        <p:nvSpPr>
          <p:cNvPr id="3" name="step 1 icon circle"/>
          <p:cNvSpPr/>
          <p:nvPr/>
        </p:nvSpPr>
        <p:spPr>
          <a:xfrm>
            <a:off x="548640" y="13258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904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Your profile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55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Upload a CV or answer 3 questions</a:t>
            </a:r>
            <a:endParaRPr lang="en-US" sz="1400" dirty="0"/>
          </a:p>
        </p:txBody>
      </p:sp>
      <p:sp>
        <p:nvSpPr>
          <p:cNvPr id="7" name="step 2 icon circle"/>
          <p:cNvSpPr/>
          <p:nvPr/>
        </p:nvSpPr>
        <p:spPr>
          <a:xfrm>
            <a:off x="548640" y="2240280"/>
            <a:ext cx="658368" cy="6583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step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40487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221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Live trends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5694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Which skills AI makes rise or fall, with source and date</a:t>
            </a:r>
            <a:endParaRPr lang="en-US" sz="1400" dirty="0"/>
          </a:p>
        </p:txBody>
      </p:sp>
      <p:sp>
        <p:nvSpPr>
          <p:cNvPr id="11" name="step 3 icon circle"/>
          <p:cNvSpPr/>
          <p:nvPr/>
        </p:nvSpPr>
        <p:spPr>
          <a:xfrm>
            <a:off x="548640" y="31546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step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31927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Best roles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43 future jobs ranked, with a score you can check</a:t>
            </a:r>
            <a:endParaRPr lang="en-US" sz="1400" dirty="0"/>
          </a:p>
        </p:txBody>
      </p:sp>
      <p:sp>
        <p:nvSpPr>
          <p:cNvPr id="15" name="step 4 icon circle"/>
          <p:cNvSpPr/>
          <p:nvPr/>
        </p:nvSpPr>
        <p:spPr>
          <a:xfrm>
            <a:off x="548640" y="4069080"/>
            <a:ext cx="658368" cy="6583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step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2336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050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Your plan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371600" y="4398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Ordered steps, hours and weeks, free courses</a:t>
            </a:r>
            <a:endParaRPr lang="en-US" sz="1400" dirty="0"/>
          </a:p>
        </p:txBody>
      </p:sp>
      <p:sp>
        <p:nvSpPr>
          <p:cNvPr id="19" name="step 5 icon circle"/>
          <p:cNvSpPr/>
          <p:nvPr/>
        </p:nvSpPr>
        <p:spPr>
          <a:xfrm>
            <a:off x="548640" y="49834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step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14807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5. Jobs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371600" y="5312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Real postings matched to you, or universities</a:t>
            </a:r>
            <a:endParaRPr lang="en-US" sz="1400" dirty="0"/>
          </a:p>
        </p:txBody>
      </p:sp>
      <p:sp>
        <p:nvSpPr>
          <p:cNvPr id="23" name="Results page: best future roles for Aisyah frame"/>
          <p:cNvSpPr/>
          <p:nvPr/>
        </p:nvSpPr>
        <p:spPr>
          <a:xfrm>
            <a:off x="5367528" y="1298448"/>
            <a:ext cx="6272784" cy="3941064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Results page: best future roles for Aisyah" descr="Results page: best future roles for Aisya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1325880"/>
            <a:ext cx="6217920" cy="38862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5394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Example: Aisyah, an accounts clerk → Business Analyst, 70% skills match, a 122-hour plan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63 professions · 53 free courses · English, Malay and Chinese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recommendation is explained, sourced and free to follow</a:t>
            </a:r>
            <a:endParaRPr lang="en-US" sz="3200" dirty="0"/>
          </a:p>
        </p:txBody>
      </p:sp>
      <p:sp>
        <p:nvSpPr>
          <p:cNvPr id="3" name="Live data screenshot frame"/>
          <p:cNvSpPr/>
          <p:nvPr/>
        </p:nvSpPr>
        <p:spPr>
          <a:xfrm>
            <a:off x="521208" y="1298448"/>
            <a:ext cx="3575304" cy="2255139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Live data screenshot" descr="Live data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520440" cy="2200275"/>
          </a:xfrm>
          <a:prstGeom prst="rect">
            <a:avLst/>
          </a:prstGeom>
        </p:spPr>
      </p:pic>
      <p:sp>
        <p:nvSpPr>
          <p:cNvPr id="5" name="Live data icon circle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Live data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404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data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89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11,582 job posts (Hacker News) and AI research (OpenAlex), each with its date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Slower, expected or faster AI: switch the scenario, the ranking changes</a:t>
            </a:r>
            <a:endParaRPr lang="en-US" sz="1400" dirty="0"/>
          </a:p>
        </p:txBody>
      </p:sp>
      <p:sp>
        <p:nvSpPr>
          <p:cNvPr id="9" name="A score you can check screenshot frame"/>
          <p:cNvSpPr/>
          <p:nvPr/>
        </p:nvSpPr>
        <p:spPr>
          <a:xfrm>
            <a:off x="4270248" y="1298448"/>
            <a:ext cx="3575304" cy="2255139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A score you can check screenshot" descr="A score you can check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325880"/>
            <a:ext cx="3520440" cy="2200275"/>
          </a:xfrm>
          <a:prstGeom prst="rect">
            <a:avLst/>
          </a:prstGeom>
        </p:spPr>
      </p:pic>
      <p:sp>
        <p:nvSpPr>
          <p:cNvPr id="11" name="A score you can check icon circle"/>
          <p:cNvSpPr/>
          <p:nvPr/>
        </p:nvSpPr>
        <p:spPr>
          <a:xfrm>
            <a:off x="429768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A score you can check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8404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8348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score you can check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4297680" y="4389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Overall = 0.5 × skills fit + 0.3 × demand + 0.2 × interests and SDGs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Shows the missing skills and what would raise the score</a:t>
            </a:r>
            <a:endParaRPr lang="en-US" sz="1400" dirty="0"/>
          </a:p>
        </p:txBody>
      </p:sp>
      <p:sp>
        <p:nvSpPr>
          <p:cNvPr id="15" name="Free, real learning screenshot frame"/>
          <p:cNvSpPr/>
          <p:nvPr/>
        </p:nvSpPr>
        <p:spPr>
          <a:xfrm>
            <a:off x="8019288" y="1298448"/>
            <a:ext cx="3575304" cy="2255139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Free, real learning screenshot" descr="Free, real learning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325880"/>
            <a:ext cx="3520440" cy="2200275"/>
          </a:xfrm>
          <a:prstGeom prst="rect">
            <a:avLst/>
          </a:prstGeom>
        </p:spPr>
      </p:pic>
      <p:sp>
        <p:nvSpPr>
          <p:cNvPr id="17" name="Free, real learning icon circle"/>
          <p:cNvSpPr/>
          <p:nvPr/>
        </p:nvSpPr>
        <p:spPr>
          <a:xfrm>
            <a:off x="804672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Free, real learning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84048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73252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Free, real learning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8046720" y="4389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53 full courses, 755 lessons, tests and certificates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role and skill is linked to UN SDG targets 4.4, 4.3, 8.5 and 8.2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The AI model (open-weight Qwen3.8-27B) only puts computed facts into words: any number it invents is rejected.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to keep people learning until they get there</a:t>
            </a:r>
            <a:endParaRPr lang="en-US" sz="3200" dirty="0"/>
          </a:p>
        </p:txBody>
      </p:sp>
      <p:sp>
        <p:nvSpPr>
          <p:cNvPr id="3" name="Goal and daily streak screenshot frame"/>
          <p:cNvSpPr/>
          <p:nvPr/>
        </p:nvSpPr>
        <p:spPr>
          <a:xfrm>
            <a:off x="521208" y="1298448"/>
            <a:ext cx="3575304" cy="2255139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Goal and daily streak screenshot" descr="Goal and daily streak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520440" cy="2200275"/>
          </a:xfrm>
          <a:prstGeom prst="rect">
            <a:avLst/>
          </a:prstGeom>
        </p:spPr>
      </p:pic>
      <p:sp>
        <p:nvSpPr>
          <p:cNvPr id="5" name="Goal and daily streak icon circle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Goal and daily streak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404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Goal and daily streak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891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a goal job: readiness %, roadmap, weekly hours and a streak that forgives one missed day</a:t>
            </a:r>
            <a:endParaRPr lang="en-US" sz="1400" dirty="0"/>
          </a:p>
        </p:txBody>
      </p:sp>
      <p:sp>
        <p:nvSpPr>
          <p:cNvPr id="9" name="100 achievements screenshot frame"/>
          <p:cNvSpPr/>
          <p:nvPr/>
        </p:nvSpPr>
        <p:spPr>
          <a:xfrm>
            <a:off x="4270248" y="1298448"/>
            <a:ext cx="3575304" cy="2255139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100 achievements screenshot" descr="100 achievements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325880"/>
            <a:ext cx="3520440" cy="2200275"/>
          </a:xfrm>
          <a:prstGeom prst="rect">
            <a:avLst/>
          </a:prstGeom>
        </p:spPr>
      </p:pic>
      <p:sp>
        <p:nvSpPr>
          <p:cNvPr id="11" name="100 achievements icon circle"/>
          <p:cNvSpPr/>
          <p:nvPr/>
        </p:nvSpPr>
        <p:spPr>
          <a:xfrm>
            <a:off x="429768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100 achievements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8404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8348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100 achievements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4297680" y="43891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70 bronze, 25 silver and 5 gold medals for lessons, tests, certificates and streaks, with a chime</a:t>
            </a:r>
            <a:endParaRPr lang="en-US" sz="1400" dirty="0"/>
          </a:p>
        </p:txBody>
      </p:sp>
      <p:sp>
        <p:nvSpPr>
          <p:cNvPr id="15" name="Points for real gifts screenshot frame"/>
          <p:cNvSpPr/>
          <p:nvPr/>
        </p:nvSpPr>
        <p:spPr>
          <a:xfrm>
            <a:off x="8019288" y="1298448"/>
            <a:ext cx="3575304" cy="2255139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Points for real gifts screenshot" descr="Points for real gift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325880"/>
            <a:ext cx="3520440" cy="2200275"/>
          </a:xfrm>
          <a:prstGeom prst="rect">
            <a:avLst/>
          </a:prstGeom>
        </p:spPr>
      </p:pic>
      <p:sp>
        <p:nvSpPr>
          <p:cNvPr id="17" name="Points for real gifts icon circle"/>
          <p:cNvSpPr/>
          <p:nvPr/>
        </p:nvSpPr>
        <p:spPr>
          <a:xfrm>
            <a:off x="804672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oints for real gifts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84048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73252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Points for real gifts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8046720" y="43891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Medals earn points (1 point ≈ RM 1) that pay up to half of 30 gifts, from stickers to a MacBook Air</a:t>
            </a:r>
            <a:endParaRPr lang="en-US" sz="1400" dirty="0"/>
          </a:p>
        </p:txBody>
      </p:sp>
      <p:sp>
        <p:nvSpPr>
          <p:cNvPr id="21" name="sign-in note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 txBox="1"/>
          <p:nvPr/>
        </p:nvSpPr>
        <p:spPr>
          <a:xfrm>
            <a:off x="777240" y="54864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Sign in with Google, GitHub or Apple to keep progress on every device; guests' data never leaves their browser tab.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17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Let's see it live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pathai.lol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Demo: Aisyah, 34, accounts clerk whose company is rolling out AI invoice processing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9CFE6"/>
                </a:solidFill>
              </a:rPr>
              <a:t>Profile from her CV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9CFE6"/>
                </a:solidFill>
              </a:rPr>
              <a:t>Live trends: press Refresh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9CFE6"/>
                </a:solidFill>
              </a:rPr>
              <a:t>Ranked roles and Why this role?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9CFE6"/>
                </a:solidFill>
              </a:rPr>
              <a:t>Her plan: 5 steps, 122 hours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9CFE6"/>
                </a:solidFill>
              </a:rPr>
              <a:t>SDG badge and the AI-pace switch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9CFE6"/>
                </a:solidFill>
              </a:rPr>
              <a:t>My path, medals and rewards</a:t>
            </a:r>
            <a:endParaRPr lang="en-US" sz="1600" dirty="0"/>
          </a:p>
        </p:txBody>
      </p:sp>
      <p:sp>
        <p:nvSpPr>
          <p:cNvPr id="6" name="Plan page frame"/>
          <p:cNvSpPr/>
          <p:nvPr/>
        </p:nvSpPr>
        <p:spPr>
          <a:xfrm>
            <a:off x="6281928" y="1572768"/>
            <a:ext cx="5358384" cy="3369564"/>
          </a:xfrm>
          <a:prstGeom prst="rect">
            <a:avLst/>
          </a:prstGeom>
          <a:solidFill>
            <a:schemeClr val="bg1"/>
          </a:solidFill>
          <a:ln w="12700">
            <a:solidFill>
              <a:srgbClr val="D5D9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Plan page" descr="Plan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0200"/>
            <a:ext cx="5303520" cy="33147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0936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u="sng" dirty="0">
                <a:solidFill>
                  <a:srgbClr val="C9CFE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github.com/Almatikooo/Competition_Repo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5577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Estimates, not predictions: AI supports career decisions, people decide.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FE6"/>
                </a:solidFill>
              </a:rPr>
              <a:t>Team ASEA · Xiamen University Malaysia · SDC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.AI">
  <a:themeElements>
    <a:clrScheme name="Path.AI">
      <a:dk1>
        <a:srgbClr val="191D2E"/>
      </a:dk1>
      <a:lt1>
        <a:srgbClr val="FFFFFF"/>
      </a:lt1>
      <a:dk2>
        <a:srgbClr val="141B34"/>
      </a:dk2>
      <a:lt2>
        <a:srgbClr val="F3F4F8"/>
      </a:lt2>
      <a:accent1>
        <a:srgbClr val="324DC7"/>
      </a:accent1>
      <a:accent2>
        <a:srgbClr val="F2C14E"/>
      </a:accent2>
      <a:accent3>
        <a:srgbClr val="1F7A4D"/>
      </a:accent3>
      <a:accent4>
        <a:srgbClr val="C5192D"/>
      </a:accent4>
      <a:accent5>
        <a:srgbClr val="6B3FB5"/>
      </a:accent5>
      <a:accent6>
        <a:srgbClr val="5B6179"/>
      </a:accent6>
      <a:hlink>
        <a:srgbClr val="324DC7"/>
      </a:hlink>
      <a:folHlink>
        <a:srgbClr val="6B3FB5"/>
      </a:folHlink>
    </a:clrScheme>
    <a:fontScheme name="Path.A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1289</Words>
  <Application>Microsoft Office PowerPoint</Application>
  <PresentationFormat>Widescreen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Path.AI</vt:lpstr>
      <vt:lpstr>Find your path in the AI era</vt:lpstr>
      <vt:lpstr>AI is already costing people their jobs</vt:lpstr>
      <vt:lpstr>We tested the problem: 55 people answered our survey</vt:lpstr>
      <vt:lpstr>For about half of them, every career decision is hard</vt:lpstr>
      <vt:lpstr>And they are ready to pay for help</vt:lpstr>
      <vt:lpstr>Path.AI: from your skills to a future job in minutes</vt:lpstr>
      <vt:lpstr>Every recommendation is explained, sourced and free to follow</vt:lpstr>
      <vt:lpstr>Built to keep people learning until they get there</vt:lpstr>
      <vt:lpstr>Let's see it live</vt:lpstr>
    </vt:vector>
  </TitlesOfParts>
  <Company>Team ASEA, Xiamen University Malaysia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Path.AI: find your path in the AI era</dc:title>
  <dc:subject>PptxGenJS Presentation</dc:subject>
  <dc:creator>Team ASEA</dc:creator>
  <cp:lastModifiedBy>Serik Kurmashev</cp:lastModifiedBy>
  <cp:revision>1</cp:revision>
  <dcterms:created xsi:type="dcterms:W3CDTF">2026-10-31T07:37:41Z</dcterms:created>
  <dcterms:modified xsi:type="dcterms:W3CDTF">2026-10-31T07:50:14Z</dcterms:modified>
</cp:coreProperties>
</file>